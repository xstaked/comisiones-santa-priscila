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F4C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365760" y="164592"/>
            <a:ext cx="411480" cy="411480"/>
          </a:xfrm>
          <a:prstGeom prst="ellipse">
            <a:avLst/>
          </a:prstGeom>
          <a:solidFill>
            <a:srgbClr val="0F4C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82880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 i="0">
                <a:solidFill>
                  <a:srgbClr val="FFFFFF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201168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0F4C6A"/>
                </a:solidFill>
                <a:latin typeface="Calibri"/>
              </a:defRPr>
            </a:pPr>
            <a:r>
              <a:t>DIN 2257 — La factura de 18 productos con texto cortado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475488"/>
            <a:ext cx="6400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 i="0">
                <a:solidFill>
                  <a:srgbClr val="666666"/>
                </a:solidFill>
                <a:latin typeface="Calibri"/>
              </a:defRPr>
            </a:pPr>
            <a:r>
              <a:t>22/05/2026  ·  FACTURA 001-002-000002257  ·  DINACUAMAR → Santa Priscila (18 líneas)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868680"/>
            <a:ext cx="4846320" cy="5120640"/>
          </a:xfrm>
          <a:prstGeom prst="rect">
            <a:avLst/>
          </a:prstGeom>
          <a:solidFill>
            <a:srgbClr val="F2F2F2"/>
          </a:solidFill>
          <a:ln w="6350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DIN 001-002-000002257 S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914400"/>
            <a:ext cx="4754880" cy="502920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5577840" y="868680"/>
            <a:ext cx="6217920" cy="640080"/>
          </a:xfrm>
          <a:prstGeom prst="rect">
            <a:avLst/>
          </a:prstGeom>
          <a:solidFill>
            <a:srgbClr val="FFF9E6"/>
          </a:solidFill>
          <a:ln w="6350">
            <a:solidFill>
              <a:srgbClr val="F0D9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715000" y="896112"/>
            <a:ext cx="594360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00" b="1" i="0">
                <a:solidFill>
                  <a:srgbClr val="8A6D1B"/>
                </a:solidFill>
                <a:latin typeface="Calibri"/>
              </a:defRPr>
            </a:pPr>
            <a:r>
              <a:t>TEXTO TAL CUAL ESTÁ EN LA FACTURA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715000" y="1051560"/>
            <a:ext cx="5943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 i="1">
                <a:solidFill>
                  <a:srgbClr val="333333"/>
                </a:solidFill>
                <a:latin typeface="Calibri"/>
              </a:defRPr>
            </a:pPr>
            <a:r>
              <a:t>“...TAURA ADM C : 600KG PASTIL | LAS TH. TAURA ADM D : 300KG...”  — el PDF corta PASTILLAS a la mitad entre celdas.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577840" y="1645920"/>
            <a:ext cx="6217920" cy="201168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669280" y="1682496"/>
            <a:ext cx="60350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 i="0">
                <a:solidFill>
                  <a:srgbClr val="FFFFFF"/>
                </a:solidFill>
                <a:latin typeface="Calibri"/>
              </a:defRPr>
            </a:pPr>
            <a:r>
              <a:t>QUÉ PASABA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577840" y="1901952"/>
            <a:ext cx="621792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687568" y="1947672"/>
            <a:ext cx="5998464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</a:p>
          <a:p>
            <a:pPr algn="l">
              <a:spcAft>
                <a:spcPts val="200"/>
              </a:spcAft>
            </a:pPr>
            <a:r>
              <a:rPr sz="700" b="0" i="0">
                <a:solidFill>
                  <a:srgbClr val="1A1A1A"/>
                </a:solidFill>
                <a:latin typeface="Calibri"/>
              </a:rPr>
              <a:t>• 2 sectores (TAURA C y D) quedaban mal asignados y algunos items sin sector.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577840" y="2907792"/>
            <a:ext cx="6217920" cy="201168"/>
          </a:xfrm>
          <a:prstGeom prst="rect">
            <a:avLst/>
          </a:prstGeom>
          <a:solidFill>
            <a:srgbClr val="7F8C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669280" y="2944368"/>
            <a:ext cx="60350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 i="0">
                <a:solidFill>
                  <a:srgbClr val="FFFFFF"/>
                </a:solidFill>
                <a:latin typeface="Calibri"/>
              </a:defRPr>
            </a:pPr>
            <a:r>
              <a:t>POR QUÉ (formato)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577840" y="3163824"/>
            <a:ext cx="621792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687568" y="3209544"/>
            <a:ext cx="5998464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</a:p>
          <a:p>
            <a:pPr algn="l">
              <a:spcAft>
                <a:spcPts val="200"/>
              </a:spcAft>
            </a:pPr>
            <a:r>
              <a:rPr sz="700" b="0" i="0">
                <a:solidFill>
                  <a:srgbClr val="1A1A1A"/>
                </a:solidFill>
                <a:latin typeface="Calibri"/>
              </a:rPr>
              <a:t>• El PDF parte palabras al cambiar de línea. El lector anterior leía “PASTIL” y “LAS TH” como dos productos distintos.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577840" y="4169664"/>
            <a:ext cx="6217920" cy="201168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669280" y="4206240"/>
            <a:ext cx="60350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 i="0">
                <a:solidFill>
                  <a:srgbClr val="FFFFFF"/>
                </a:solidFill>
                <a:latin typeface="Calibri"/>
              </a:defRPr>
            </a:pPr>
            <a:r>
              <a:t>QUÉ HICIMOS  →  RESULTADO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577840" y="4425696"/>
            <a:ext cx="621792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687568" y="4471416"/>
            <a:ext cx="5998464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</a:p>
          <a:p>
            <a:pPr algn="l">
              <a:spcAft>
                <a:spcPts val="200"/>
              </a:spcAft>
            </a:pPr>
            <a:r>
              <a:rPr sz="700" b="0" i="0">
                <a:solidFill>
                  <a:srgbClr val="1A1A1A"/>
                </a:solidFill>
                <a:latin typeface="Calibri"/>
              </a:rPr>
              <a:t>• Ahora pegamos el texto sin espacios y buscamos los sectores del catálogo, no palabras sueltas.</a:t>
            </a:r>
          </a:p>
          <a:p>
            <a:pPr algn="l">
              <a:spcAft>
                <a:spcPts val="200"/>
              </a:spcAft>
            </a:pPr>
            <a:r>
              <a:rPr sz="700" b="0" i="0">
                <a:solidFill>
                  <a:srgbClr val="1A1A1A"/>
                </a:solidFill>
                <a:latin typeface="Calibri"/>
              </a:rPr>
              <a:t>• → Los 600 kg van a TAURA C y los 300+100 a TAURA D, sin tocar código si aparece un sector nuevo.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F4C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365760" y="164592"/>
            <a:ext cx="411480" cy="411480"/>
          </a:xfrm>
          <a:prstGeom prst="ellipse">
            <a:avLst/>
          </a:prstGeom>
          <a:solidFill>
            <a:srgbClr val="0F4C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82880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 i="0">
                <a:solidFill>
                  <a:srgbClr val="FFFFFF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201168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0F4C6A"/>
                </a:solidFill>
                <a:latin typeface="Calibri"/>
              </a:defRPr>
            </a:pPr>
            <a:r>
              <a:t>EO 2059 — El sector va ANTES de la cantidad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475488"/>
            <a:ext cx="6400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 i="0">
                <a:solidFill>
                  <a:srgbClr val="666666"/>
                </a:solidFill>
                <a:latin typeface="Calibri"/>
              </a:defRPr>
            </a:pPr>
            <a:r>
              <a:t>15/05/2026  ·  FACTURA 001-002-000002059  ·  OCHOA → Santa Priscila (3× CITRIUS)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868680"/>
            <a:ext cx="4846320" cy="5120640"/>
          </a:xfrm>
          <a:prstGeom prst="rect">
            <a:avLst/>
          </a:prstGeom>
          <a:solidFill>
            <a:srgbClr val="F2F2F2"/>
          </a:solidFill>
          <a:ln w="6350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EO 001-002-000002059 S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914400"/>
            <a:ext cx="4754880" cy="502920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5577840" y="868680"/>
            <a:ext cx="6217920" cy="640080"/>
          </a:xfrm>
          <a:prstGeom prst="rect">
            <a:avLst/>
          </a:prstGeom>
          <a:solidFill>
            <a:srgbClr val="FFF9E6"/>
          </a:solidFill>
          <a:ln w="6350">
            <a:solidFill>
              <a:srgbClr val="F0D9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715000" y="896112"/>
            <a:ext cx="594360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00" b="1" i="0">
                <a:solidFill>
                  <a:srgbClr val="8A6D1B"/>
                </a:solidFill>
                <a:latin typeface="Calibri"/>
              </a:defRPr>
            </a:pPr>
            <a:r>
              <a:t>TEXTO TAL CUAL ESTÁ EN LA FACTURA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715000" y="1051560"/>
            <a:ext cx="5943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 i="1">
                <a:solidFill>
                  <a:srgbClr val="333333"/>
                </a:solidFill>
                <a:latin typeface="Calibri"/>
              </a:defRPr>
            </a:pPr>
            <a:r>
              <a:t>“...CHANDUY. 100 LITS DE CITRIUS, GOLFO. 300 LITS CITRIUS Y TAURA ADM D. 800 LITS CITRIUS.”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577840" y="1645920"/>
            <a:ext cx="6217920" cy="201168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669280" y="1682496"/>
            <a:ext cx="60350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 i="0">
                <a:solidFill>
                  <a:srgbClr val="FFFFFF"/>
                </a:solidFill>
                <a:latin typeface="Calibri"/>
              </a:defRPr>
            </a:pPr>
            <a:r>
              <a:t>QUÉ PASABA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577840" y="1901952"/>
            <a:ext cx="621792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687568" y="1947672"/>
            <a:ext cx="5998464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</a:p>
          <a:p>
            <a:pPr algn="l">
              <a:spcAft>
                <a:spcPts val="200"/>
              </a:spcAft>
            </a:pPr>
            <a:r>
              <a:rPr sz="700" b="0" i="0">
                <a:solidFill>
                  <a:srgbClr val="1A1A1A"/>
                </a:solidFill>
                <a:latin typeface="Calibri"/>
              </a:rPr>
              <a:t>• Los 3 renglones de la tabla son litros, pero la glosa escribe el sector primero y luego los litros.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577840" y="2907792"/>
            <a:ext cx="6217920" cy="201168"/>
          </a:xfrm>
          <a:prstGeom prst="rect">
            <a:avLst/>
          </a:prstGeom>
          <a:solidFill>
            <a:srgbClr val="7F8C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669280" y="2944368"/>
            <a:ext cx="60350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 i="0">
                <a:solidFill>
                  <a:srgbClr val="FFFFFF"/>
                </a:solidFill>
                <a:latin typeface="Calibri"/>
              </a:defRPr>
            </a:pPr>
            <a:r>
              <a:t>POR QUÉ (formato)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577840" y="3163824"/>
            <a:ext cx="621792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687568" y="3209544"/>
            <a:ext cx="5998464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</a:p>
          <a:p>
            <a:pPr algn="l">
              <a:spcAft>
                <a:spcPts val="200"/>
              </a:spcAft>
            </a:pPr>
            <a:r>
              <a:rPr sz="700" b="0" i="0">
                <a:solidFill>
                  <a:srgbClr val="1A1A1A"/>
                </a:solidFill>
                <a:latin typeface="Calibri"/>
              </a:rPr>
              <a:t>• La mayoría de facturas dice “100KG PASTILLAS” (cantidad primero). Aquí es al revés: “CHANDUY. 100 LITS”.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577840" y="4169664"/>
            <a:ext cx="6217920" cy="201168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669280" y="4206240"/>
            <a:ext cx="60350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 i="0">
                <a:solidFill>
                  <a:srgbClr val="FFFFFF"/>
                </a:solidFill>
                <a:latin typeface="Calibri"/>
              </a:defRPr>
            </a:pPr>
            <a:r>
              <a:t>QUÉ HICIMOS  →  RESULTADO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577840" y="4425696"/>
            <a:ext cx="621792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687568" y="4471416"/>
            <a:ext cx="5998464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</a:p>
          <a:p>
            <a:pPr algn="l">
              <a:spcAft>
                <a:spcPts val="200"/>
              </a:spcAft>
            </a:pPr>
            <a:r>
              <a:rPr sz="700" b="0" i="0">
                <a:solidFill>
                  <a:srgbClr val="1A1A1A"/>
                </a:solidFill>
                <a:latin typeface="Calibri"/>
              </a:rPr>
              <a:t>• El parser ahora lee en orden: sector → cantidad dentro de cada tramo.</a:t>
            </a:r>
          </a:p>
          <a:p>
            <a:pPr algn="l">
              <a:spcAft>
                <a:spcPts val="200"/>
              </a:spcAft>
            </a:pPr>
            <a:r>
              <a:rPr sz="700" b="0" i="0">
                <a:solidFill>
                  <a:srgbClr val="1A1A1A"/>
                </a:solidFill>
                <a:latin typeface="Calibri"/>
              </a:rPr>
              <a:t>• → 100 L → CHANDUY, 300 L → GOLFO, 800 L → TAURA D. Cada uno con su comisión.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F4C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365760" y="164592"/>
            <a:ext cx="411480" cy="411480"/>
          </a:xfrm>
          <a:prstGeom prst="ellipse">
            <a:avLst/>
          </a:prstGeom>
          <a:solidFill>
            <a:srgbClr val="0F4C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82880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 i="0">
                <a:solidFill>
                  <a:srgbClr val="FFFFFF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201168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0F4C6A"/>
                </a:solidFill>
                <a:latin typeface="Calibri"/>
              </a:defRPr>
            </a:pPr>
            <a:r>
              <a:t>EO 2090 — 3 productos, 1 solo sector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475488"/>
            <a:ext cx="6400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 i="0">
                <a:solidFill>
                  <a:srgbClr val="666666"/>
                </a:solidFill>
                <a:latin typeface="Calibri"/>
              </a:defRPr>
            </a:pPr>
            <a:r>
              <a:t>18/06/2026  ·  FACTURA 001-002-000002090  ·  OCHOA → Santa Priscila (2× CITRIUS + CALCINIT)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868680"/>
            <a:ext cx="4846320" cy="5120640"/>
          </a:xfrm>
          <a:prstGeom prst="rect">
            <a:avLst/>
          </a:prstGeom>
          <a:solidFill>
            <a:srgbClr val="F2F2F2"/>
          </a:solidFill>
          <a:ln w="6350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3 items 1 sector - EO 001-002-000002090 S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914400"/>
            <a:ext cx="4754880" cy="502920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5577840" y="868680"/>
            <a:ext cx="6217920" cy="640080"/>
          </a:xfrm>
          <a:prstGeom prst="rect">
            <a:avLst/>
          </a:prstGeom>
          <a:solidFill>
            <a:srgbClr val="FFF9E6"/>
          </a:solidFill>
          <a:ln w="6350">
            <a:solidFill>
              <a:srgbClr val="F0D9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715000" y="896112"/>
            <a:ext cx="594360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00" b="1" i="0">
                <a:solidFill>
                  <a:srgbClr val="8A6D1B"/>
                </a:solidFill>
                <a:latin typeface="Calibri"/>
              </a:defRPr>
            </a:pPr>
            <a:r>
              <a:t>TEXTO TAL CUAL ESTÁ EN LA FACTURA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715000" y="1051560"/>
            <a:ext cx="5943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 i="1">
                <a:solidFill>
                  <a:srgbClr val="333333"/>
                </a:solidFill>
                <a:latin typeface="Calibri"/>
              </a:defRPr>
            </a:pPr>
            <a:r>
              <a:t>“...SANTA PRISCILA S.A. - GOLFO. 89 CANECAS DE 20LITS DE CITRIUS Y 1368 SACOS DE 25KG DE CALCINIT.” = 880 L + 900 L + 34.200 kg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577840" y="1645920"/>
            <a:ext cx="6217920" cy="201168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669280" y="1682496"/>
            <a:ext cx="60350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 i="0">
                <a:solidFill>
                  <a:srgbClr val="FFFFFF"/>
                </a:solidFill>
                <a:latin typeface="Calibri"/>
              </a:defRPr>
            </a:pPr>
            <a:r>
              <a:t>QUÉ PASABA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577840" y="1901952"/>
            <a:ext cx="621792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687568" y="1947672"/>
            <a:ext cx="5998464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</a:p>
          <a:p>
            <a:pPr algn="l">
              <a:spcAft>
                <a:spcPts val="200"/>
              </a:spcAft>
            </a:pPr>
            <a:r>
              <a:rPr sz="700" b="0" i="0">
                <a:solidFill>
                  <a:srgbClr val="1A1A1A"/>
                </a:solidFill>
                <a:latin typeface="Calibri"/>
              </a:rPr>
              <a:t>• Los 3 items deben ir a GOLFO, pero la glosa cuenta canecas/sacos y la tabla litros/kilos — no cruzan por número.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577840" y="2907792"/>
            <a:ext cx="6217920" cy="201168"/>
          </a:xfrm>
          <a:prstGeom prst="rect">
            <a:avLst/>
          </a:prstGeom>
          <a:solidFill>
            <a:srgbClr val="7F8C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669280" y="2944368"/>
            <a:ext cx="60350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 i="0">
                <a:solidFill>
                  <a:srgbClr val="FFFFFF"/>
                </a:solidFill>
                <a:latin typeface="Calibri"/>
              </a:defRPr>
            </a:pPr>
            <a:r>
              <a:t>POR QUÉ (formato)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577840" y="3163824"/>
            <a:ext cx="621792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687568" y="3209544"/>
            <a:ext cx="5998464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</a:p>
          <a:p>
            <a:pPr algn="l">
              <a:spcAft>
                <a:spcPts val="200"/>
              </a:spcAft>
            </a:pPr>
            <a:r>
              <a:rPr sz="700" b="0" i="0">
                <a:solidFill>
                  <a:srgbClr val="1A1A1A"/>
                </a:solidFill>
                <a:latin typeface="Calibri"/>
              </a:rPr>
              <a:t>• “89 canecas” no son 89 litros, son 1.780 L. No se puede cruzar por cantidad.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577840" y="4169664"/>
            <a:ext cx="6217920" cy="201168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669280" y="4206240"/>
            <a:ext cx="60350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 i="0">
                <a:solidFill>
                  <a:srgbClr val="FFFFFF"/>
                </a:solidFill>
                <a:latin typeface="Calibri"/>
              </a:defRPr>
            </a:pPr>
            <a:r>
              <a:t>QUÉ HICIMOS  →  RESULTADO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577840" y="4425696"/>
            <a:ext cx="621792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687568" y="4471416"/>
            <a:ext cx="5998464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</a:p>
          <a:p>
            <a:pPr algn="l">
              <a:spcAft>
                <a:spcPts val="200"/>
              </a:spcAft>
            </a:pPr>
            <a:r>
              <a:rPr sz="700" b="0" i="0">
                <a:solidFill>
                  <a:srgbClr val="1A1A1A"/>
                </a:solidFill>
                <a:latin typeface="Calibri"/>
              </a:rPr>
              <a:t>• Si hay un solo sector nombrado, todos los items que no cruzaron van ahí.</a:t>
            </a:r>
          </a:p>
          <a:p>
            <a:pPr algn="l">
              <a:spcAft>
                <a:spcPts val="200"/>
              </a:spcAft>
            </a:pPr>
            <a:r>
              <a:rPr sz="700" b="0" i="0">
                <a:solidFill>
                  <a:srgbClr val="1A1A1A"/>
                </a:solidFill>
                <a:latin typeface="Calibri"/>
              </a:rPr>
              <a:t>• → Los 3 items quedan en GOLFO. Sin esto, quedaban “sin sector” y sin comisión.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F4C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365760" y="164592"/>
            <a:ext cx="411480" cy="411480"/>
          </a:xfrm>
          <a:prstGeom prst="ellipse">
            <a:avLst/>
          </a:prstGeom>
          <a:solidFill>
            <a:srgbClr val="0F4C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82880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 i="0">
                <a:solidFill>
                  <a:srgbClr val="FFFFFF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201168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0F4C6A"/>
                </a:solidFill>
                <a:latin typeface="Calibri"/>
              </a:defRPr>
            </a:pPr>
            <a:r>
              <a:t>2083 foto — “22.500,00” leído como 22,5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475488"/>
            <a:ext cx="6400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 i="0">
                <a:solidFill>
                  <a:srgbClr val="666666"/>
                </a:solidFill>
                <a:latin typeface="Calibri"/>
              </a:defRPr>
            </a:pPr>
            <a:r>
              <a:t>11/06/2026  ·  FACTURA 001-002-000002083  ·  OCHOA → Santa Priscila  ·  Foto por WhatsApp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868680"/>
            <a:ext cx="4846320" cy="5120640"/>
          </a:xfrm>
          <a:prstGeom prst="rect">
            <a:avLst/>
          </a:prstGeom>
          <a:solidFill>
            <a:srgbClr val="F2F2F2"/>
          </a:solidFill>
          <a:ln w="6350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WhatsApp Image 2026-08-19 at 13.23.37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914400"/>
            <a:ext cx="4754880" cy="502920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5577840" y="868680"/>
            <a:ext cx="6217920" cy="640080"/>
          </a:xfrm>
          <a:prstGeom prst="rect">
            <a:avLst/>
          </a:prstGeom>
          <a:solidFill>
            <a:srgbClr val="FFF9E6"/>
          </a:solidFill>
          <a:ln w="6350">
            <a:solidFill>
              <a:srgbClr val="F0D9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715000" y="896112"/>
            <a:ext cx="594360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00" b="1" i="0">
                <a:solidFill>
                  <a:srgbClr val="8A6D1B"/>
                </a:solidFill>
                <a:latin typeface="Calibri"/>
              </a:defRPr>
            </a:pPr>
            <a:r>
              <a:t>TEXTO TAL CUAL ESTÁ EN LA FACTURA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715000" y="1051560"/>
            <a:ext cx="5943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 i="1">
                <a:solidFill>
                  <a:srgbClr val="333333"/>
                </a:solidFill>
                <a:latin typeface="Calibri"/>
              </a:defRPr>
            </a:pPr>
            <a:r>
              <a:t>“O/C # 95933 - SEMANA 24 SECTOR GOLFO (900 SACOS DE 25KG DE CALCINIT A $ 29,50) ... 22.500,00 x 1,180000 = 26.550,00”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577840" y="1645920"/>
            <a:ext cx="6217920" cy="201168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669280" y="1682496"/>
            <a:ext cx="60350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 i="0">
                <a:solidFill>
                  <a:srgbClr val="FFFFFF"/>
                </a:solidFill>
                <a:latin typeface="Calibri"/>
              </a:defRPr>
            </a:pPr>
            <a:r>
              <a:t>QUÉ PASABA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577840" y="1901952"/>
            <a:ext cx="621792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687568" y="1947672"/>
            <a:ext cx="5998464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</a:p>
          <a:p>
            <a:pPr algn="l">
              <a:spcAft>
                <a:spcPts val="200"/>
              </a:spcAft>
            </a:pPr>
            <a:r>
              <a:rPr sz="700" b="0" i="0">
                <a:solidFill>
                  <a:srgbClr val="1A1A1A"/>
                </a:solidFill>
                <a:latin typeface="Calibri"/>
              </a:rPr>
              <a:t>• La comisión salía /1.000. El total cuadraba igual, así que nadie lo notaba hasta liquidar.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577840" y="2907792"/>
            <a:ext cx="6217920" cy="201168"/>
          </a:xfrm>
          <a:prstGeom prst="rect">
            <a:avLst/>
          </a:prstGeom>
          <a:solidFill>
            <a:srgbClr val="7F8C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669280" y="2944368"/>
            <a:ext cx="60350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 i="0">
                <a:solidFill>
                  <a:srgbClr val="FFFFFF"/>
                </a:solidFill>
                <a:latin typeface="Calibri"/>
              </a:defRPr>
            </a:pPr>
            <a:r>
              <a:t>POR QUÉ (formato)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577840" y="3163824"/>
            <a:ext cx="621792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687568" y="3209544"/>
            <a:ext cx="5998464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</a:p>
          <a:p>
            <a:pPr algn="l">
              <a:spcAft>
                <a:spcPts val="200"/>
              </a:spcAft>
            </a:pPr>
            <a:r>
              <a:rPr sz="700" b="0" i="0">
                <a:solidFill>
                  <a:srgbClr val="1A1A1A"/>
                </a:solidFill>
                <a:latin typeface="Calibri"/>
              </a:rPr>
              <a:t>• La IA confundía el punto de miles con decimal. 22.500,00 son veintidós mil quinientos.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577840" y="4169664"/>
            <a:ext cx="6217920" cy="201168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669280" y="4206240"/>
            <a:ext cx="60350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 i="0">
                <a:solidFill>
                  <a:srgbClr val="FFFFFF"/>
                </a:solidFill>
                <a:latin typeface="Calibri"/>
              </a:defRPr>
            </a:pPr>
            <a:r>
              <a:t>QUÉ HICIMOS  →  RESULTADO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577840" y="4425696"/>
            <a:ext cx="621792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687568" y="4471416"/>
            <a:ext cx="5998464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</a:p>
          <a:p>
            <a:pPr algn="l">
              <a:spcAft>
                <a:spcPts val="200"/>
              </a:spcAft>
            </a:pPr>
            <a:r>
              <a:rPr sz="700" b="0" i="0">
                <a:solidFill>
                  <a:srgbClr val="1A1A1A"/>
                </a:solidFill>
                <a:latin typeface="Calibri"/>
              </a:rPr>
              <a:t>• Ahora la IA transcribe “22.500,00” tal cual y Python decide: último separador = decimal.</a:t>
            </a:r>
          </a:p>
          <a:p>
            <a:pPr algn="l">
              <a:spcAft>
                <a:spcPts val="200"/>
              </a:spcAft>
            </a:pPr>
            <a:r>
              <a:rPr sz="700" b="0" i="0">
                <a:solidFill>
                  <a:srgbClr val="1A1A1A"/>
                </a:solidFill>
                <a:latin typeface="Calibri"/>
              </a:rPr>
              <a:t>• → 22.500 kg × $1,18 = $26.550 comisión correcta. Antes: 22,5 kg × $1,18 = $26,55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F4C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365760" y="164592"/>
            <a:ext cx="411480" cy="411480"/>
          </a:xfrm>
          <a:prstGeom prst="ellipse">
            <a:avLst/>
          </a:prstGeom>
          <a:solidFill>
            <a:srgbClr val="0F4C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82880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 i="0">
                <a:solidFill>
                  <a:srgbClr val="FFFFFF"/>
                </a:solidFill>
                <a:latin typeface="Calibri"/>
              </a:defRPr>
            </a:pPr>
            <a: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201168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0F4C6A"/>
                </a:solidFill>
                <a:latin typeface="Calibri"/>
              </a:defRPr>
            </a:pPr>
            <a:r>
              <a:t>2081 foto — SECTOR GOLFO sin guión → “C GOLFO”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475488"/>
            <a:ext cx="6400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 i="0">
                <a:solidFill>
                  <a:srgbClr val="666666"/>
                </a:solidFill>
                <a:latin typeface="Calibri"/>
              </a:defRPr>
            </a:pPr>
            <a:r>
              <a:t>08/06/2026  ·  FACTURA 001-002-000002081  ·  OCHOA → Santa Priscila  ·  Foto por WhatsApp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868680"/>
            <a:ext cx="4846320" cy="5120640"/>
          </a:xfrm>
          <a:prstGeom prst="rect">
            <a:avLst/>
          </a:prstGeom>
          <a:solidFill>
            <a:srgbClr val="F2F2F2"/>
          </a:solidFill>
          <a:ln w="6350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WhatsApp Image 2026-08-19 at 14.34.15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914400"/>
            <a:ext cx="4754880" cy="502920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5577840" y="868680"/>
            <a:ext cx="6217920" cy="640080"/>
          </a:xfrm>
          <a:prstGeom prst="rect">
            <a:avLst/>
          </a:prstGeom>
          <a:solidFill>
            <a:srgbClr val="FFF9E6"/>
          </a:solidFill>
          <a:ln w="6350">
            <a:solidFill>
              <a:srgbClr val="F0D9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715000" y="896112"/>
            <a:ext cx="594360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00" b="1" i="0">
                <a:solidFill>
                  <a:srgbClr val="8A6D1B"/>
                </a:solidFill>
                <a:latin typeface="Calibri"/>
              </a:defRPr>
            </a:pPr>
            <a:r>
              <a:t>TEXTO TAL CUAL ESTÁ EN LA FACTURA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715000" y="1051560"/>
            <a:ext cx="5943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 i="1">
                <a:solidFill>
                  <a:srgbClr val="333333"/>
                </a:solidFill>
                <a:latin typeface="Calibri"/>
              </a:defRPr>
            </a:pPr>
            <a:r>
              <a:t>“O/C # 95644 SEMANA 23 SECTOR GOLFO (850 SACOS DE 25KG DE CALCINIT...) 21.250,00”  — sin “ - ” antes de SEMANA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577840" y="1645920"/>
            <a:ext cx="6217920" cy="201168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669280" y="1682496"/>
            <a:ext cx="60350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 i="0">
                <a:solidFill>
                  <a:srgbClr val="FFFFFF"/>
                </a:solidFill>
                <a:latin typeface="Calibri"/>
              </a:defRPr>
            </a:pPr>
            <a:r>
              <a:t>QUÉ PASABA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577840" y="1901952"/>
            <a:ext cx="621792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687568" y="1947672"/>
            <a:ext cx="5998464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</a:p>
          <a:p>
            <a:pPr algn="l">
              <a:spcAft>
                <a:spcPts val="200"/>
              </a:spcAft>
            </a:pPr>
            <a:r>
              <a:rPr sz="700" b="0" i="0">
                <a:solidFill>
                  <a:srgbClr val="1A1A1A"/>
                </a:solidFill>
                <a:latin typeface="Calibri"/>
              </a:rPr>
              <a:t>• Sector salía “-” y sin comisionistas. La 2083 igual pero con guión sí funcionaba.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577840" y="2907792"/>
            <a:ext cx="6217920" cy="201168"/>
          </a:xfrm>
          <a:prstGeom prst="rect">
            <a:avLst/>
          </a:prstGeom>
          <a:solidFill>
            <a:srgbClr val="7F8C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669280" y="2944368"/>
            <a:ext cx="60350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 i="0">
                <a:solidFill>
                  <a:srgbClr val="FFFFFF"/>
                </a:solidFill>
                <a:latin typeface="Calibri"/>
              </a:defRPr>
            </a:pPr>
            <a:r>
              <a:t>POR QUÉ (formato)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577840" y="3163824"/>
            <a:ext cx="621792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687568" y="3209544"/>
            <a:ext cx="5998464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</a:p>
          <a:p>
            <a:pPr algn="l">
              <a:spcAft>
                <a:spcPts val="200"/>
              </a:spcAft>
            </a:pPr>
            <a:r>
              <a:rPr sz="700" b="0" i="0">
                <a:solidFill>
                  <a:srgbClr val="1A1A1A"/>
                </a:solidFill>
                <a:latin typeface="Calibri"/>
              </a:rPr>
              <a:t>• Sin el guión, “O/C” queda pegado y la normalización lo parte en “O” y “C” → “C GOLFO” no existe.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577840" y="4169664"/>
            <a:ext cx="6217920" cy="201168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669280" y="4206240"/>
            <a:ext cx="60350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 i="0">
                <a:solidFill>
                  <a:srgbClr val="FFFFFF"/>
                </a:solidFill>
                <a:latin typeface="Calibri"/>
              </a:defRPr>
            </a:pPr>
            <a:r>
              <a:t>QUÉ HICIMOS  →  RESULTADO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577840" y="4425696"/>
            <a:ext cx="621792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687568" y="4471416"/>
            <a:ext cx="5998464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</a:p>
          <a:p>
            <a:pPr algn="l">
              <a:spcAft>
                <a:spcPts val="200"/>
              </a:spcAft>
            </a:pPr>
            <a:r>
              <a:rPr sz="700" b="0" i="0">
                <a:solidFill>
                  <a:srgbClr val="1A1A1A"/>
                </a:solidFill>
                <a:latin typeface="Calibri"/>
              </a:rPr>
              <a:t>• Ahora no podamos palabras: buscamos los sectores del catálogo dentro del texto. Da igual guión, puntos o “SECTOR”.</a:t>
            </a:r>
          </a:p>
          <a:p>
            <a:pPr algn="l">
              <a:spcAft>
                <a:spcPts val="200"/>
              </a:spcAft>
            </a:pPr>
            <a:r>
              <a:rPr sz="700" b="0" i="0">
                <a:solidFill>
                  <a:srgbClr val="1A1A1A"/>
                </a:solidFill>
                <a:latin typeface="Calibri"/>
              </a:rPr>
              <a:t>• → GOLFO reconocido siempre. Un sector nuevo se arregla dándolo de alta, sin programar.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F4C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365760" y="164592"/>
            <a:ext cx="411480" cy="411480"/>
          </a:xfrm>
          <a:prstGeom prst="ellipse">
            <a:avLst/>
          </a:prstGeom>
          <a:solidFill>
            <a:srgbClr val="0F4C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82880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 i="0">
                <a:solidFill>
                  <a:srgbClr val="FFFFFF"/>
                </a:solidFill>
                <a:latin typeface="Calibri"/>
              </a:defRPr>
            </a:pPr>
            <a: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201168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0F4C6A"/>
                </a:solidFill>
                <a:latin typeface="Calibri"/>
              </a:defRPr>
            </a:pPr>
            <a:r>
              <a:t>2067 foto — Producto que no existe en el catálogo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475488"/>
            <a:ext cx="6400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 i="0">
                <a:solidFill>
                  <a:srgbClr val="666666"/>
                </a:solidFill>
                <a:latin typeface="Calibri"/>
              </a:defRPr>
            </a:pPr>
            <a:r>
              <a:t>22/05/2026  ·  FACTURA 001-002-000002067  ·  OCHOA → ROSSCAMARONERA S.A. (no Santa Priscila)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868680"/>
            <a:ext cx="4846320" cy="5120640"/>
          </a:xfrm>
          <a:prstGeom prst="rect">
            <a:avLst/>
          </a:prstGeom>
          <a:solidFill>
            <a:srgbClr val="F2F2F2"/>
          </a:solidFill>
          <a:ln w="6350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WhatsApp Image 2026-08-19 at 14.34.43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914400"/>
            <a:ext cx="4754880" cy="502920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5577840" y="868680"/>
            <a:ext cx="6217920" cy="640080"/>
          </a:xfrm>
          <a:prstGeom prst="rect">
            <a:avLst/>
          </a:prstGeom>
          <a:solidFill>
            <a:srgbClr val="FFF9E6"/>
          </a:solidFill>
          <a:ln w="6350">
            <a:solidFill>
              <a:srgbClr val="F0D9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715000" y="896112"/>
            <a:ext cx="594360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00" b="1" i="0">
                <a:solidFill>
                  <a:srgbClr val="8A6D1B"/>
                </a:solidFill>
                <a:latin typeface="Calibri"/>
              </a:defRPr>
            </a:pPr>
            <a:r>
              <a:t>TEXTO TAL CUAL ESTÁ EN LA FACTURA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715000" y="1051560"/>
            <a:ext cx="5943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 i="1">
                <a:solidFill>
                  <a:srgbClr val="333333"/>
                </a:solidFill>
                <a:latin typeface="Calibri"/>
              </a:defRPr>
            </a:pPr>
            <a:r>
              <a:t>“...10KG ECULACTICAS INNOVATE - 10,00 x 46,000000 = 460,00”  +  INFORMACIÓN ADICIONAL vendedor: Luis Castro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577840" y="1645920"/>
            <a:ext cx="6217920" cy="201168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669280" y="1682496"/>
            <a:ext cx="60350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 i="0">
                <a:solidFill>
                  <a:srgbClr val="FFFFFF"/>
                </a:solidFill>
                <a:latin typeface="Calibri"/>
              </a:defRPr>
            </a:pPr>
            <a:r>
              <a:t>QUÉ PASABA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577840" y="1901952"/>
            <a:ext cx="621792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687568" y="1947672"/>
            <a:ext cx="5998464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</a:p>
          <a:p>
            <a:pPr algn="l">
              <a:spcAft>
                <a:spcPts val="200"/>
              </a:spcAft>
            </a:pPr>
            <a:r>
              <a:rPr sz="700" b="0" i="0">
                <a:solidFill>
                  <a:srgbClr val="1A1A1A"/>
                </a:solidFill>
                <a:latin typeface="Calibri"/>
              </a:rPr>
              <a:t>• La factura entraba, pero nunca pagaba comisión y nadie sabía por qué.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577840" y="2907792"/>
            <a:ext cx="6217920" cy="201168"/>
          </a:xfrm>
          <a:prstGeom prst="rect">
            <a:avLst/>
          </a:prstGeom>
          <a:solidFill>
            <a:srgbClr val="7F8C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669280" y="2944368"/>
            <a:ext cx="60350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 i="0">
                <a:solidFill>
                  <a:srgbClr val="FFFFFF"/>
                </a:solidFill>
                <a:latin typeface="Calibri"/>
              </a:defRPr>
            </a:pPr>
            <a:r>
              <a:t>POR QUÉ (formato)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577840" y="3163824"/>
            <a:ext cx="621792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687568" y="3209544"/>
            <a:ext cx="5998464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</a:p>
          <a:p>
            <a:pPr algn="l">
              <a:spcAft>
                <a:spcPts val="200"/>
              </a:spcAft>
            </a:pPr>
            <a:r>
              <a:rPr sz="700" b="0" i="0">
                <a:solidFill>
                  <a:srgbClr val="1A1A1A"/>
                </a:solidFill>
                <a:latin typeface="Calibri"/>
              </a:rPr>
              <a:t>• “ECU-LACTICAS INNOVATE” no está dado de alta como producto. Sin producto no hay tarifa, sin tarifa comisión 0.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577840" y="4169664"/>
            <a:ext cx="6217920" cy="201168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669280" y="4206240"/>
            <a:ext cx="60350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 i="0">
                <a:solidFill>
                  <a:srgbClr val="FFFFFF"/>
                </a:solidFill>
                <a:latin typeface="Calibri"/>
              </a:defRPr>
            </a:pPr>
            <a:r>
              <a:t>QUÉ HICIMOS  →  RESULTADO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577840" y="4425696"/>
            <a:ext cx="621792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687568" y="4471416"/>
            <a:ext cx="5998464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</a:p>
          <a:p>
            <a:pPr algn="l">
              <a:spcAft>
                <a:spcPts val="200"/>
              </a:spcAft>
            </a:pPr>
            <a:r>
              <a:rPr sz="700" b="0" i="0">
                <a:solidFill>
                  <a:srgbClr val="1A1A1A"/>
                </a:solidFill>
                <a:latin typeface="Calibri"/>
              </a:rPr>
              <a:t>• Ahora el preview avisa en rojo: “ECU-LACTICAS INNOVATE no está registrado” y bloquea la factura.</a:t>
            </a:r>
          </a:p>
          <a:p>
            <a:pPr algn="l">
              <a:spcAft>
                <a:spcPts val="200"/>
              </a:spcAft>
            </a:pPr>
            <a:r>
              <a:rPr sz="700" b="0" i="0">
                <a:solidFill>
                  <a:srgbClr val="1A1A1A"/>
                </a:solidFill>
                <a:latin typeface="Calibri"/>
              </a:rPr>
              <a:t>• → Queda a la vista qué dar de alta. La carga manual sigue permitiendo guardarlo si ustedes quieren.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F4C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365760" y="164592"/>
            <a:ext cx="411480" cy="411480"/>
          </a:xfrm>
          <a:prstGeom prst="ellipse">
            <a:avLst/>
          </a:prstGeom>
          <a:solidFill>
            <a:srgbClr val="0F4C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82880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 i="0">
                <a:solidFill>
                  <a:srgbClr val="FFFFFF"/>
                </a:solidFill>
                <a:latin typeface="Calibri"/>
              </a:defRPr>
            </a:pPr>
            <a: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201168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0F4C6A"/>
                </a:solidFill>
                <a:latin typeface="Calibri"/>
              </a:defRPr>
            </a:pPr>
            <a:r>
              <a:t>DIN 247 — Descripción más compleja: 14 sectores en 1 glosa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475488"/>
            <a:ext cx="6400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 i="0">
                <a:solidFill>
                  <a:srgbClr val="666666"/>
                </a:solidFill>
                <a:latin typeface="Calibri"/>
              </a:defRPr>
            </a:pPr>
            <a:r>
              <a:t>19/05/2026  ·  FACTURA 001-002-000002247  ·  DINACUAMAR → Santa Priscila (18 líneas) — externas/santa-priscila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868680"/>
            <a:ext cx="4846320" cy="5120640"/>
          </a:xfrm>
          <a:prstGeom prst="rect">
            <a:avLst/>
          </a:prstGeom>
          <a:solidFill>
            <a:srgbClr val="F2F2F2"/>
          </a:solidFill>
          <a:ln w="6350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DIN 001-002-000002247 S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914400"/>
            <a:ext cx="4754880" cy="502920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5577840" y="868680"/>
            <a:ext cx="6217920" cy="640080"/>
          </a:xfrm>
          <a:prstGeom prst="rect">
            <a:avLst/>
          </a:prstGeom>
          <a:solidFill>
            <a:srgbClr val="FFF9E6"/>
          </a:solidFill>
          <a:ln w="6350">
            <a:solidFill>
              <a:srgbClr val="F0D9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715000" y="896112"/>
            <a:ext cx="594360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00" b="1" i="0">
                <a:solidFill>
                  <a:srgbClr val="8A6D1B"/>
                </a:solidFill>
                <a:latin typeface="Calibri"/>
              </a:defRPr>
            </a:pPr>
            <a:r>
              <a:t>TEXTO TAL CUAL ESTÁ EN LA FACTURA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715000" y="1051560"/>
            <a:ext cx="5943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 i="1">
                <a:solidFill>
                  <a:srgbClr val="333333"/>
                </a:solidFill>
                <a:latin typeface="Calibri"/>
              </a:defRPr>
            </a:pPr>
            <a:r>
              <a:t>“SEMANA 19 AFRICA : 100KG PAST. TH. ASIA : 150KG... CALIFORNIA ADM A : 100KG... DAULAR: 40KG AGUA, 20KG SUELO... GOLFO : 80KG GRANDES...” 14 sectores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577840" y="1645920"/>
            <a:ext cx="6217920" cy="201168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669280" y="1682496"/>
            <a:ext cx="60350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 i="0">
                <a:solidFill>
                  <a:srgbClr val="FFFFFF"/>
                </a:solidFill>
                <a:latin typeface="Calibri"/>
              </a:defRPr>
            </a:pPr>
            <a:r>
              <a:t>QUÉ PASABA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577840" y="1901952"/>
            <a:ext cx="621792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687568" y="1947672"/>
            <a:ext cx="5998464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</a:p>
          <a:p>
            <a:pPr algn="l">
              <a:spcAft>
                <a:spcPts val="200"/>
              </a:spcAft>
            </a:pPr>
            <a:r>
              <a:rPr sz="700" b="0" i="0">
                <a:solidFill>
                  <a:srgbClr val="1A1A1A"/>
                </a:solidFill>
                <a:latin typeface="Calibri"/>
              </a:rPr>
              <a:t>• 14 sectores en una sola glosa, con falta de “:” en DAULAR y “PA.ST TH” abreviado. Un error arrastra a todos.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577840" y="2907792"/>
            <a:ext cx="6217920" cy="201168"/>
          </a:xfrm>
          <a:prstGeom prst="rect">
            <a:avLst/>
          </a:prstGeom>
          <a:solidFill>
            <a:srgbClr val="7F8C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669280" y="2944368"/>
            <a:ext cx="60350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 i="0">
                <a:solidFill>
                  <a:srgbClr val="FFFFFF"/>
                </a:solidFill>
                <a:latin typeface="Calibri"/>
              </a:defRPr>
            </a:pPr>
            <a:r>
              <a:t>POR QUÉ (formato)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577840" y="3163824"/>
            <a:ext cx="621792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687568" y="3209544"/>
            <a:ext cx="5998464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</a:p>
          <a:p>
            <a:pPr algn="l">
              <a:spcAft>
                <a:spcPts val="200"/>
              </a:spcAft>
            </a:pPr>
            <a:r>
              <a:rPr sz="700" b="0" i="0">
                <a:solidFill>
                  <a:srgbClr val="1A1A1A"/>
                </a:solidFill>
                <a:latin typeface="Calibri"/>
              </a:rPr>
              <a:t>• Mismo papel, 14 escrituras distintas. “DAULAR” sin dos puntos, “PAST. TH” abreviado, “GOLFO” vs “GOLFO :”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577840" y="4169664"/>
            <a:ext cx="6217920" cy="201168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669280" y="4206240"/>
            <a:ext cx="60350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 i="0">
                <a:solidFill>
                  <a:srgbClr val="FFFFFF"/>
                </a:solidFill>
                <a:latin typeface="Calibri"/>
              </a:defRPr>
            </a:pPr>
            <a:r>
              <a:t>QUÉ HICIMOS  →  RESULTADO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577840" y="4425696"/>
            <a:ext cx="621792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687568" y="4471416"/>
            <a:ext cx="5998464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</a:p>
          <a:p>
            <a:pPr algn="l">
              <a:spcAft>
                <a:spcPts val="200"/>
              </a:spcAft>
            </a:pPr>
            <a:r>
              <a:rPr sz="700" b="0" i="0">
                <a:solidFill>
                  <a:srgbClr val="1A1A1A"/>
                </a:solidFill>
                <a:latin typeface="Calibri"/>
              </a:rPr>
              <a:t>• Cada mención del catálogo abre un tramo; lo que no es sector se ignora y el “25KG” del envase no se cuenta.</a:t>
            </a:r>
          </a:p>
          <a:p>
            <a:pPr algn="l">
              <a:spcAft>
                <a:spcPts val="200"/>
              </a:spcAft>
            </a:pPr>
            <a:r>
              <a:rPr sz="700" b="0" i="0">
                <a:solidFill>
                  <a:srgbClr val="1A1A1A"/>
                </a:solidFill>
                <a:latin typeface="Calibri"/>
              </a:rPr>
              <a:t>• → Aunque la glosa tenga 14 sectores con errores, cada kilo cae en su sector. Es la prueba de estrés.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F4C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 i="0">
                <a:solidFill>
                  <a:srgbClr val="0F4C6A"/>
                </a:solidFill>
                <a:latin typeface="Calibri"/>
              </a:defRPr>
            </a:pPr>
            <a:r>
              <a:t>CONTIFICO vs PERSEO — no todo está donde uno espera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02920"/>
            <a:ext cx="7315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 i="1">
                <a:solidFill>
                  <a:srgbClr val="666666"/>
                </a:solidFill>
                <a:latin typeface="Calibri"/>
              </a:defRPr>
            </a:pPr>
            <a:r>
              <a:t>DINACUAMAR (CONTIFICO) y OCHOA (PERSEO) escriben la misma factura con bloques distintos. La IA debe equivalerlos.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26880" y="22860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 i="0">
                <a:solidFill>
                  <a:srgbClr val="FFFFFF"/>
                </a:solidFill>
                <a:latin typeface="Calibri"/>
              </a:defRPr>
            </a:pPr>
            <a:r>
              <a:t>EQUIVALENCIA</a:t>
            </a:r>
          </a:p>
        </p:txBody>
      </p:sp>
      <p:sp>
        <p:nvSpPr>
          <p:cNvPr id="6" name="Rectangle 5"/>
          <p:cNvSpPr/>
          <p:nvPr/>
        </p:nvSpPr>
        <p:spPr>
          <a:xfrm>
            <a:off x="9235440" y="182880"/>
            <a:ext cx="2468880" cy="41148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868680"/>
            <a:ext cx="5394960" cy="3840480"/>
          </a:xfrm>
          <a:prstGeom prst="rect">
            <a:avLst/>
          </a:prstGeom>
          <a:solidFill>
            <a:srgbClr val="F2F2F2"/>
          </a:solidFill>
          <a:ln w="6350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868680"/>
            <a:ext cx="5394960" cy="320040"/>
          </a:xfrm>
          <a:prstGeom prst="rect">
            <a:avLst/>
          </a:prstGeom>
          <a:solidFill>
            <a:srgbClr val="1A8C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941832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 i="0">
                <a:solidFill>
                  <a:srgbClr val="FFFFFF"/>
                </a:solidFill>
                <a:latin typeface="Calibri"/>
              </a:defRPr>
            </a:pPr>
            <a:r>
              <a:t>DINACUAMAR  ·  SISTEMA CONTIFICO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0" y="941832"/>
            <a:ext cx="1417321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600" b="0" i="0">
                <a:solidFill>
                  <a:srgbClr val="FFFFFF"/>
                </a:solidFill>
                <a:latin typeface="Calibri"/>
              </a:defRPr>
            </a:pPr>
            <a:r>
              <a:t>DIN 2257</a:t>
            </a:r>
          </a:p>
        </p:txBody>
      </p:sp>
      <p:pic>
        <p:nvPicPr>
          <p:cNvPr id="11" name="Picture 10" descr="DIN 001-002-000002257 S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234440"/>
            <a:ext cx="5303520" cy="3383280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530352" y="1280160"/>
            <a:ext cx="2011680" cy="411480"/>
          </a:xfrm>
          <a:prstGeom prst="rect">
            <a:avLst/>
          </a:prstGeom>
          <a:noFill/>
          <a:ln w="25400">
            <a:solidFill>
              <a:srgbClr val="0F4C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66928" y="1252728"/>
            <a:ext cx="91440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00" b="1" i="0">
                <a:solidFill>
                  <a:srgbClr val="0F4C6A"/>
                </a:solidFill>
                <a:latin typeface="Calibri"/>
              </a:defRPr>
            </a:pPr>
            <a:r>
              <a:t>Proveedor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30352" y="2011680"/>
            <a:ext cx="2468880" cy="320040"/>
          </a:xfrm>
          <a:prstGeom prst="rect">
            <a:avLst/>
          </a:prstGeom>
          <a:noFill/>
          <a:ln w="2540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66928" y="1984248"/>
            <a:ext cx="91440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00" b="1" i="0">
                <a:solidFill>
                  <a:srgbClr val="2E7D32"/>
                </a:solidFill>
                <a:latin typeface="Calibri"/>
              </a:defRPr>
            </a:pPr>
            <a:r>
              <a:t>Cliente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30352" y="3474720"/>
            <a:ext cx="5212080" cy="914400"/>
          </a:xfrm>
          <a:prstGeom prst="rect">
            <a:avLst/>
          </a:prstGeom>
          <a:noFill/>
          <a:ln w="25400"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66928" y="3447288"/>
            <a:ext cx="109728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00" b="1" i="0">
                <a:solidFill>
                  <a:srgbClr val="E67E22"/>
                </a:solidFill>
                <a:latin typeface="Calibri"/>
              </a:defRPr>
            </a:pPr>
            <a:r>
              <a:t>Glosa / Sectores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30352" y="2423160"/>
            <a:ext cx="5212080" cy="822960"/>
          </a:xfrm>
          <a:prstGeom prst="rect">
            <a:avLst/>
          </a:prstGeom>
          <a:noFill/>
          <a:ln w="25400">
            <a:solidFill>
              <a:srgbClr val="7D3C9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66928" y="2395728"/>
            <a:ext cx="91440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00" b="1" i="0">
                <a:solidFill>
                  <a:srgbClr val="7D3C98"/>
                </a:solidFill>
                <a:latin typeface="Calibri"/>
              </a:defRPr>
            </a:pPr>
            <a:r>
              <a:t>Items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309360" y="868680"/>
            <a:ext cx="5394960" cy="3840480"/>
          </a:xfrm>
          <a:prstGeom prst="rect">
            <a:avLst/>
          </a:prstGeom>
          <a:solidFill>
            <a:srgbClr val="F2F2F2"/>
          </a:solidFill>
          <a:ln w="6350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309360" y="868680"/>
            <a:ext cx="5394960" cy="320040"/>
          </a:xfrm>
          <a:prstGeom prst="rect">
            <a:avLst/>
          </a:prstGeom>
          <a:solidFill>
            <a:srgbClr val="7D3C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941832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 i="0">
                <a:solidFill>
                  <a:srgbClr val="FFFFFF"/>
                </a:solidFill>
                <a:latin typeface="Calibri"/>
              </a:defRPr>
            </a:pPr>
            <a:r>
              <a:t>OCHOA  ·  SISTEMA PERSEO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149840" y="941832"/>
            <a:ext cx="1417321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600" b="0" i="0">
                <a:solidFill>
                  <a:srgbClr val="FFFFFF"/>
                </a:solidFill>
                <a:latin typeface="Calibri"/>
              </a:defRPr>
            </a:pPr>
            <a:r>
              <a:t>EO 2059</a:t>
            </a:r>
          </a:p>
        </p:txBody>
      </p:sp>
      <p:pic>
        <p:nvPicPr>
          <p:cNvPr id="24" name="Picture 23" descr="EO 001-002-000002059 S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5080" y="1234440"/>
            <a:ext cx="5303520" cy="3383280"/>
          </a:xfrm>
          <a:prstGeom prst="rect">
            <a:avLst/>
          </a:prstGeom>
        </p:spPr>
      </p:pic>
      <p:sp>
        <p:nvSpPr>
          <p:cNvPr id="25" name="Rectangle 24"/>
          <p:cNvSpPr/>
          <p:nvPr/>
        </p:nvSpPr>
        <p:spPr>
          <a:xfrm>
            <a:off x="6382512" y="1280160"/>
            <a:ext cx="2011680" cy="411480"/>
          </a:xfrm>
          <a:prstGeom prst="rect">
            <a:avLst/>
          </a:prstGeom>
          <a:noFill/>
          <a:ln w="25400">
            <a:solidFill>
              <a:srgbClr val="0F4C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19088" y="1252728"/>
            <a:ext cx="91440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00" b="1" i="0">
                <a:solidFill>
                  <a:srgbClr val="0F4C6A"/>
                </a:solidFill>
                <a:latin typeface="Calibri"/>
              </a:defRPr>
            </a:pPr>
            <a:r>
              <a:t>Proveedor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382512" y="2011680"/>
            <a:ext cx="2468880" cy="320040"/>
          </a:xfrm>
          <a:prstGeom prst="rect">
            <a:avLst/>
          </a:prstGeom>
          <a:noFill/>
          <a:ln w="2540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19088" y="1984248"/>
            <a:ext cx="91440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00" b="1" i="0">
                <a:solidFill>
                  <a:srgbClr val="2E7D32"/>
                </a:solidFill>
                <a:latin typeface="Calibri"/>
              </a:defRPr>
            </a:pPr>
            <a:r>
              <a:t>Cliente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382512" y="2743199"/>
            <a:ext cx="5212080" cy="502920"/>
          </a:xfrm>
          <a:prstGeom prst="rect">
            <a:avLst/>
          </a:prstGeom>
          <a:noFill/>
          <a:ln w="25400"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19088" y="2715768"/>
            <a:ext cx="137160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00" b="1" i="0">
                <a:solidFill>
                  <a:srgbClr val="E67E22"/>
                </a:solidFill>
                <a:latin typeface="Calibri"/>
              </a:defRPr>
            </a:pPr>
            <a:r>
              <a:t>Glosa DENTRO de tabla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382512" y="2423160"/>
            <a:ext cx="5212080" cy="274320"/>
          </a:xfrm>
          <a:prstGeom prst="rect">
            <a:avLst/>
          </a:prstGeom>
          <a:noFill/>
          <a:ln w="25400">
            <a:solidFill>
              <a:srgbClr val="7D3C9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457200" y="4892040"/>
            <a:ext cx="11274552" cy="1691640"/>
          </a:xfrm>
          <a:prstGeom prst="rect">
            <a:avLst/>
          </a:prstGeom>
          <a:solidFill>
            <a:srgbClr val="F4F7F9"/>
          </a:solidFill>
          <a:ln w="6350">
            <a:solidFill>
              <a:srgbClr val="D0D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94360" y="4983480"/>
            <a:ext cx="10972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 i="0">
                <a:solidFill>
                  <a:srgbClr val="0F4C6A"/>
                </a:solidFill>
                <a:latin typeface="Calibri"/>
              </a:defRPr>
            </a:pPr>
            <a:r>
              <a:t>QUÉ TOMA LA IA Y DÓNDE ESTÁ EN CADA SISTEMA  ·  Lo que tuvimos que equivaler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94360" y="5212080"/>
            <a:ext cx="1828800" cy="256032"/>
          </a:xfrm>
          <a:prstGeom prst="rect">
            <a:avLst/>
          </a:prstGeom>
          <a:solidFill>
            <a:srgbClr val="0F4C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0080" y="5266944"/>
            <a:ext cx="1737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" b="1" i="0">
                <a:solidFill>
                  <a:srgbClr val="FFFFFF"/>
                </a:solidFill>
                <a:latin typeface="Calibri"/>
              </a:defRPr>
            </a:pPr>
            <a:r>
              <a:t>DATO QUE TOMA LA IA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423160" y="5212080"/>
            <a:ext cx="2926080" cy="256032"/>
          </a:xfrm>
          <a:prstGeom prst="rect">
            <a:avLst/>
          </a:prstGeom>
          <a:solidFill>
            <a:srgbClr val="0F4C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2468880" y="5266944"/>
            <a:ext cx="28346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" b="1" i="0">
                <a:solidFill>
                  <a:srgbClr val="FFFFFF"/>
                </a:solidFill>
                <a:latin typeface="Calibri"/>
              </a:defRPr>
            </a:pPr>
            <a:r>
              <a:t>CONTIFICO (DINACUAMAR)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349240" y="5212080"/>
            <a:ext cx="2926080" cy="256032"/>
          </a:xfrm>
          <a:prstGeom prst="rect">
            <a:avLst/>
          </a:prstGeom>
          <a:solidFill>
            <a:srgbClr val="0F4C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394960" y="5266944"/>
            <a:ext cx="28346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" b="1" i="0">
                <a:solidFill>
                  <a:srgbClr val="FFFFFF"/>
                </a:solidFill>
                <a:latin typeface="Calibri"/>
              </a:defRPr>
            </a:pPr>
            <a:r>
              <a:t>PERSEO (OCHOA)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275320" y="5212080"/>
            <a:ext cx="3566160" cy="256032"/>
          </a:xfrm>
          <a:prstGeom prst="rect">
            <a:avLst/>
          </a:prstGeom>
          <a:solidFill>
            <a:srgbClr val="0F4C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321040" y="5266944"/>
            <a:ext cx="3474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" b="1" i="0">
                <a:solidFill>
                  <a:srgbClr val="FFFFFF"/>
                </a:solidFill>
                <a:latin typeface="Calibri"/>
              </a:defRPr>
            </a:pPr>
            <a:r>
              <a:t>EQUIVALENCIA QUE HICIMOS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94360" y="5468112"/>
            <a:ext cx="182880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40080" y="5495544"/>
            <a:ext cx="1737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50" b="0" i="0">
                <a:solidFill>
                  <a:srgbClr val="333333"/>
                </a:solidFill>
                <a:latin typeface="Calibri"/>
              </a:defRPr>
            </a:pPr>
            <a:r>
              <a:t>Proveedor</a:t>
            </a:r>
          </a:p>
        </p:txBody>
      </p:sp>
      <p:sp>
        <p:nvSpPr>
          <p:cNvPr id="44" name="Rectangle 43"/>
          <p:cNvSpPr/>
          <p:nvPr/>
        </p:nvSpPr>
        <p:spPr>
          <a:xfrm>
            <a:off x="2423160" y="5468112"/>
            <a:ext cx="292608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2468880" y="5495544"/>
            <a:ext cx="2834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50" b="0" i="0">
                <a:solidFill>
                  <a:srgbClr val="333333"/>
                </a:solidFill>
                <a:latin typeface="Calibri"/>
              </a:defRPr>
            </a:pPr>
            <a:r>
              <a:t>Encabezado azul arriba</a:t>
            </a:r>
            <a:br/>
            <a:r>
              <a:t>“Emisor: DINACUAMAR”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349240" y="5468112"/>
            <a:ext cx="292608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394960" y="5495544"/>
            <a:ext cx="2834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50" b="0" i="0">
                <a:solidFill>
                  <a:srgbClr val="333333"/>
                </a:solidFill>
                <a:latin typeface="Calibri"/>
              </a:defRPr>
            </a:pPr>
            <a:r>
              <a:t>Recuadro izquierda</a:t>
            </a:r>
            <a:br/>
            <a:r>
              <a:t>“OCHOA RECALDE...”</a:t>
            </a:r>
          </a:p>
        </p:txBody>
      </p:sp>
      <p:sp>
        <p:nvSpPr>
          <p:cNvPr id="48" name="Rectangle 47"/>
          <p:cNvSpPr/>
          <p:nvPr/>
        </p:nvSpPr>
        <p:spPr>
          <a:xfrm>
            <a:off x="8275320" y="5468112"/>
            <a:ext cx="356616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321040" y="5495544"/>
            <a:ext cx="3474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50" b="0" i="0">
                <a:solidFill>
                  <a:srgbClr val="333333"/>
                </a:solidFill>
                <a:latin typeface="Calibri"/>
              </a:defRPr>
            </a:pPr>
            <a:r>
              <a:t>Mismo RUC, distinto bloque</a:t>
            </a:r>
          </a:p>
        </p:txBody>
      </p:sp>
      <p:sp>
        <p:nvSpPr>
          <p:cNvPr id="50" name="Rectangle 49"/>
          <p:cNvSpPr/>
          <p:nvPr/>
        </p:nvSpPr>
        <p:spPr>
          <a:xfrm>
            <a:off x="594360" y="5760720"/>
            <a:ext cx="182880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40080" y="5788152"/>
            <a:ext cx="1737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50" b="0" i="0">
                <a:solidFill>
                  <a:srgbClr val="333333"/>
                </a:solidFill>
                <a:latin typeface="Calibri"/>
              </a:defRPr>
            </a:pPr>
            <a:r>
              <a:t>Cliente</a:t>
            </a:r>
          </a:p>
        </p:txBody>
      </p:sp>
      <p:sp>
        <p:nvSpPr>
          <p:cNvPr id="52" name="Rectangle 51"/>
          <p:cNvSpPr/>
          <p:nvPr/>
        </p:nvSpPr>
        <p:spPr>
          <a:xfrm>
            <a:off x="2423160" y="5760720"/>
            <a:ext cx="292608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2468880" y="5788152"/>
            <a:ext cx="2834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50" b="0" i="0">
                <a:solidFill>
                  <a:srgbClr val="333333"/>
                </a:solidFill>
                <a:latin typeface="Calibri"/>
              </a:defRPr>
            </a:pPr>
            <a:r>
              <a:t>Bloque “Razón Social: Santa Priscila”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349240" y="5760720"/>
            <a:ext cx="292608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5394960" y="5788152"/>
            <a:ext cx="2834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50" b="0" i="0">
                <a:solidFill>
                  <a:srgbClr val="333333"/>
                </a:solidFill>
                <a:latin typeface="Calibri"/>
              </a:defRPr>
            </a:pPr>
            <a:r>
              <a:t>Bloque “Nombres: Santa Priscila / ROSSCAMARONERA”</a:t>
            </a:r>
          </a:p>
        </p:txBody>
      </p:sp>
      <p:sp>
        <p:nvSpPr>
          <p:cNvPr id="56" name="Rectangle 55"/>
          <p:cNvSpPr/>
          <p:nvPr/>
        </p:nvSpPr>
        <p:spPr>
          <a:xfrm>
            <a:off x="8275320" y="5760720"/>
            <a:ext cx="356616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8321040" y="5788152"/>
            <a:ext cx="3474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50" b="0" i="0">
                <a:solidFill>
                  <a:srgbClr val="333333"/>
                </a:solidFill>
                <a:latin typeface="Calibri"/>
              </a:defRPr>
            </a:pPr>
            <a:r>
              <a:t>Normalizado a cliente del catálogo</a:t>
            </a:r>
          </a:p>
        </p:txBody>
      </p:sp>
      <p:sp>
        <p:nvSpPr>
          <p:cNvPr id="58" name="Rectangle 57"/>
          <p:cNvSpPr/>
          <p:nvPr/>
        </p:nvSpPr>
        <p:spPr>
          <a:xfrm>
            <a:off x="594360" y="6053328"/>
            <a:ext cx="182880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640080" y="6080760"/>
            <a:ext cx="1737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50" b="0" i="0">
                <a:solidFill>
                  <a:srgbClr val="333333"/>
                </a:solidFill>
                <a:latin typeface="Calibri"/>
              </a:defRPr>
            </a:pPr>
            <a:r>
              <a:t>Glosa / Sectores</a:t>
            </a:r>
          </a:p>
        </p:txBody>
      </p:sp>
      <p:sp>
        <p:nvSpPr>
          <p:cNvPr id="60" name="Rectangle 59"/>
          <p:cNvSpPr/>
          <p:nvPr/>
        </p:nvSpPr>
        <p:spPr>
          <a:xfrm>
            <a:off x="2423160" y="6053328"/>
            <a:ext cx="292608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2468880" y="6080760"/>
            <a:ext cx="2834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50" b="0" i="0">
                <a:solidFill>
                  <a:srgbClr val="333333"/>
                </a:solidFill>
                <a:latin typeface="Calibri"/>
              </a:defRPr>
            </a:pPr>
            <a:r>
              <a:t>Abajo en “Información Adicional &gt; Descripción”</a:t>
            </a:r>
          </a:p>
        </p:txBody>
      </p:sp>
      <p:sp>
        <p:nvSpPr>
          <p:cNvPr id="62" name="Rectangle 61"/>
          <p:cNvSpPr/>
          <p:nvPr/>
        </p:nvSpPr>
        <p:spPr>
          <a:xfrm>
            <a:off x="5349240" y="6053328"/>
            <a:ext cx="292608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5394960" y="6080760"/>
            <a:ext cx="2834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50" b="0" i="0">
                <a:solidFill>
                  <a:srgbClr val="333333"/>
                </a:solidFill>
                <a:latin typeface="Calibri"/>
              </a:defRPr>
            </a:pPr>
            <a:r>
              <a:t>En la columna Descripción, dentro de la fila</a:t>
            </a:r>
          </a:p>
        </p:txBody>
      </p:sp>
      <p:sp>
        <p:nvSpPr>
          <p:cNvPr id="64" name="Rectangle 63"/>
          <p:cNvSpPr/>
          <p:nvPr/>
        </p:nvSpPr>
        <p:spPr>
          <a:xfrm>
            <a:off x="8275320" y="6053328"/>
            <a:ext cx="356616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8321040" y="6080760"/>
            <a:ext cx="3474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50" b="0" i="0">
                <a:solidFill>
                  <a:srgbClr val="333333"/>
                </a:solidFill>
                <a:latin typeface="Calibri"/>
              </a:defRPr>
            </a:pPr>
            <a:r>
              <a:t>IA transcribe literal, Python busca sectores del catálogo</a:t>
            </a:r>
          </a:p>
        </p:txBody>
      </p:sp>
      <p:sp>
        <p:nvSpPr>
          <p:cNvPr id="66" name="Rectangle 65"/>
          <p:cNvSpPr/>
          <p:nvPr/>
        </p:nvSpPr>
        <p:spPr>
          <a:xfrm>
            <a:off x="594360" y="6345936"/>
            <a:ext cx="182880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640080" y="6373368"/>
            <a:ext cx="1737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50" b="0" i="0">
                <a:solidFill>
                  <a:srgbClr val="333333"/>
                </a:solidFill>
                <a:latin typeface="Calibri"/>
              </a:defRPr>
            </a:pPr>
            <a:r>
              <a:t>N° Factura</a:t>
            </a:r>
          </a:p>
        </p:txBody>
      </p:sp>
      <p:sp>
        <p:nvSpPr>
          <p:cNvPr id="68" name="Rectangle 67"/>
          <p:cNvSpPr/>
          <p:nvPr/>
        </p:nvSpPr>
        <p:spPr>
          <a:xfrm>
            <a:off x="2423160" y="6345936"/>
            <a:ext cx="292608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2468880" y="6373368"/>
            <a:ext cx="2834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50" b="0" i="0">
                <a:solidFill>
                  <a:srgbClr val="333333"/>
                </a:solidFill>
                <a:latin typeface="Calibri"/>
              </a:defRPr>
            </a:pPr>
            <a:r>
              <a:t>“FACTURA No.001-002-...”</a:t>
            </a:r>
          </a:p>
        </p:txBody>
      </p:sp>
      <p:sp>
        <p:nvSpPr>
          <p:cNvPr id="70" name="Rectangle 69"/>
          <p:cNvSpPr/>
          <p:nvPr/>
        </p:nvSpPr>
        <p:spPr>
          <a:xfrm>
            <a:off x="5349240" y="6345936"/>
            <a:ext cx="292608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5394960" y="6373368"/>
            <a:ext cx="2834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50" b="0" i="0">
                <a:solidFill>
                  <a:srgbClr val="333333"/>
                </a:solidFill>
                <a:latin typeface="Calibri"/>
              </a:defRPr>
            </a:pPr>
            <a:r>
              <a:t>“FACTURA N. 001-002-...”</a:t>
            </a:r>
          </a:p>
        </p:txBody>
      </p:sp>
      <p:sp>
        <p:nvSpPr>
          <p:cNvPr id="72" name="Rectangle 71"/>
          <p:cNvSpPr/>
          <p:nvPr/>
        </p:nvSpPr>
        <p:spPr>
          <a:xfrm>
            <a:off x="8275320" y="6345936"/>
            <a:ext cx="356616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8321040" y="6373368"/>
            <a:ext cx="3474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50" b="0" i="0">
                <a:solidFill>
                  <a:srgbClr val="333333"/>
                </a:solidFill>
                <a:latin typeface="Calibri"/>
              </a:defRPr>
            </a:pPr>
            <a:r>
              <a:t>Se usa el del encabezado, nunca el O/C # de la glosa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457200" y="6629400"/>
            <a:ext cx="1127455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" b="0" i="1">
                <a:solidFill>
                  <a:srgbClr val="666666"/>
                </a:solidFill>
                <a:latin typeface="Calibri"/>
              </a:defRPr>
            </a:pPr>
            <a:r>
              <a:t>La información no siempre está en el mismo lugar ni con el mismo nombre — la equivalencia es lo que evita el factor humano. Por eso pedimos estandarizar la glosa aunque el sistema ya tolere los dos formatos.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F4C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 i="0">
                <a:solidFill>
                  <a:srgbClr val="0F4C6A"/>
                </a:solidFill>
                <a:latin typeface="Calibri"/>
              </a:defRPr>
            </a:pPr>
            <a:r>
              <a:t>La misma información, escrita de 3 formas distintas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"/>
            <a:ext cx="11247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1">
                <a:solidFill>
                  <a:srgbClr val="666666"/>
                </a:solidFill>
                <a:latin typeface="Calibri"/>
              </a:defRPr>
            </a:pPr>
            <a:r>
              <a:t>Por qué pedimos estandarizar la escritura — aunque el sistema ya tolera variaciones, el factor humano siempre es riesgo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05840"/>
            <a:ext cx="3657600" cy="2560320"/>
          </a:xfrm>
          <a:prstGeom prst="rect">
            <a:avLst/>
          </a:prstGeom>
          <a:solidFill>
            <a:srgbClr val="FFFFFF"/>
          </a:solidFill>
          <a:ln w="6350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005840"/>
            <a:ext cx="3657600" cy="320040"/>
          </a:xfrm>
          <a:prstGeom prst="rect">
            <a:avLst/>
          </a:prstGeom>
          <a:solidFill>
            <a:srgbClr val="0F4C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051560"/>
            <a:ext cx="3383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 i="0">
                <a:solidFill>
                  <a:srgbClr val="FFFFFF"/>
                </a:solidFill>
                <a:latin typeface="Calibri"/>
              </a:defRPr>
            </a:pPr>
            <a:r>
              <a:t>EJEMPLO A:  DIN 2257 / 247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" y="1463040"/>
            <a:ext cx="3383280" cy="1143000"/>
          </a:xfrm>
          <a:prstGeom prst="rect">
            <a:avLst/>
          </a:prstGeom>
          <a:solidFill>
            <a:srgbClr val="FFF9E6"/>
          </a:solidFill>
          <a:ln w="6350">
            <a:solidFill>
              <a:srgbClr val="F0D9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508760"/>
            <a:ext cx="32918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 i="1">
                <a:solidFill>
                  <a:srgbClr val="333333"/>
                </a:solidFill>
                <a:latin typeface="Calibri"/>
              </a:defRPr>
            </a:pPr>
            <a:r>
              <a:t>"AFRICA : 200KG PASTILLAS TH.</a:t>
            </a:r>
            <a:br/>
            <a:r>
              <a:t>ASIA : 200KG PASTILLAS TH.</a:t>
            </a:r>
            <a:br/>
            <a:r>
              <a:t>CALIFORNIA ADM A : 130KG PASTILLAS."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697480"/>
            <a:ext cx="3383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50" b="0" i="1">
                <a:solidFill>
                  <a:srgbClr val="666666"/>
                </a:solidFill>
                <a:latin typeface="Calibri"/>
              </a:defRPr>
            </a:pPr>
            <a:r>
              <a:t>Con dos puntos • Sin SEMANA</a:t>
            </a:r>
            <a:br/>
            <a:r>
              <a:t>Siempre “SECTOR : CANTIDAD”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89120" y="1005840"/>
            <a:ext cx="3657600" cy="2560320"/>
          </a:xfrm>
          <a:prstGeom prst="rect">
            <a:avLst/>
          </a:prstGeom>
          <a:solidFill>
            <a:srgbClr val="FFFFFF"/>
          </a:solidFill>
          <a:ln w="6350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89120" y="1005840"/>
            <a:ext cx="3657600" cy="32004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26280" y="1051560"/>
            <a:ext cx="3383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 i="0">
                <a:solidFill>
                  <a:srgbClr val="FFFFFF"/>
                </a:solidFill>
                <a:latin typeface="Calibri"/>
              </a:defRPr>
            </a:pPr>
            <a:r>
              <a:t>EJEMPLO B:  EO 2059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26280" y="1463040"/>
            <a:ext cx="3383280" cy="1143000"/>
          </a:xfrm>
          <a:prstGeom prst="rect">
            <a:avLst/>
          </a:prstGeom>
          <a:solidFill>
            <a:srgbClr val="FFF9E6"/>
          </a:solidFill>
          <a:ln w="6350">
            <a:solidFill>
              <a:srgbClr val="F0D9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0" y="1508760"/>
            <a:ext cx="32918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 i="1">
                <a:solidFill>
                  <a:srgbClr val="333333"/>
                </a:solidFill>
                <a:latin typeface="Calibri"/>
              </a:defRPr>
            </a:pPr>
            <a:r>
              <a:t>"CHANDUY. 100 LITS DE CITRIUS,</a:t>
            </a:r>
            <a:br/>
            <a:r>
              <a:t>GOLFO. 300 LITS CITRIUS</a:t>
            </a:r>
            <a:br/>
            <a:r>
              <a:t>Y TAURA ADM D. 800 LITS CITRIUS."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26280" y="2697480"/>
            <a:ext cx="3383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50" b="0" i="1">
                <a:solidFill>
                  <a:srgbClr val="666666"/>
                </a:solidFill>
                <a:latin typeface="Calibri"/>
              </a:defRPr>
            </a:pPr>
            <a:r>
              <a:t>Con punto • Sector ANTES</a:t>
            </a:r>
            <a:br/>
            <a:r>
              <a:t>Comas y “Y” como separador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321040" y="1005840"/>
            <a:ext cx="3657600" cy="2560320"/>
          </a:xfrm>
          <a:prstGeom prst="rect">
            <a:avLst/>
          </a:prstGeom>
          <a:solidFill>
            <a:srgbClr val="FFFFFF"/>
          </a:solidFill>
          <a:ln w="6350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321040" y="1005840"/>
            <a:ext cx="3657600" cy="32004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458200" y="1051560"/>
            <a:ext cx="3383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 i="0">
                <a:solidFill>
                  <a:srgbClr val="FFFFFF"/>
                </a:solidFill>
                <a:latin typeface="Calibri"/>
              </a:defRPr>
            </a:pPr>
            <a:r>
              <a:t>EJEMPLO C:  2081 / 2083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458200" y="1463040"/>
            <a:ext cx="3383280" cy="1143000"/>
          </a:xfrm>
          <a:prstGeom prst="rect">
            <a:avLst/>
          </a:prstGeom>
          <a:solidFill>
            <a:srgbClr val="FFF9E6"/>
          </a:solidFill>
          <a:ln w="6350">
            <a:solidFill>
              <a:srgbClr val="F0D9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503920" y="1508760"/>
            <a:ext cx="32918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 i="1">
                <a:solidFill>
                  <a:srgbClr val="333333"/>
                </a:solidFill>
                <a:latin typeface="Calibri"/>
              </a:defRPr>
            </a:pPr>
            <a:r>
              <a:t>"O/C # 95644 SEMANA 23</a:t>
            </a:r>
            <a:br/>
            <a:r>
              <a:t>SECTOR GOLFO (850 SACOS</a:t>
            </a:r>
            <a:br/>
            <a:r>
              <a:t>DE 25KG DE CALCINIT A $29,50)"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58200" y="2697480"/>
            <a:ext cx="3383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50" b="0" i="1">
                <a:solidFill>
                  <a:srgbClr val="666666"/>
                </a:solidFill>
                <a:latin typeface="Calibri"/>
              </a:defRPr>
            </a:pPr>
            <a:r>
              <a:t>Con O/C + SEMANA + SECTOR</a:t>
            </a:r>
            <a:br/>
            <a:r>
              <a:t>Paréntesis y precio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3840480"/>
            <a:ext cx="11274552" cy="1920240"/>
          </a:xfrm>
          <a:prstGeom prst="rect">
            <a:avLst/>
          </a:prstGeom>
          <a:solidFill>
            <a:srgbClr val="E8F5E9"/>
          </a:solidFill>
          <a:ln w="6350">
            <a:solidFill>
              <a:srgbClr val="A5D6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" y="3977639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 i="0">
                <a:solidFill>
                  <a:srgbClr val="2E7D32"/>
                </a:solidFill>
                <a:latin typeface="Calibri"/>
              </a:defRPr>
            </a:pPr>
            <a:r>
              <a:t>PROPUESTA DE FORMATO ESTANDARIZADO — aunque sea manual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425196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 i="0">
                <a:solidFill>
                  <a:srgbClr val="1B5E20"/>
                </a:solidFill>
                <a:latin typeface="Calibri"/>
              </a:defRPr>
            </a:pPr>
            <a:r>
              <a:t>SEMANA 24  —  GOLFO: 900 SACOS CALCINIT  |  CHANDUY: 100 LITS CITRIUS  |  TAURA D: 800 LITS CITRIUS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4572000"/>
            <a:ext cx="10972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 i="1">
                <a:solidFill>
                  <a:srgbClr val="333333"/>
                </a:solidFill>
                <a:latin typeface="Calibri"/>
              </a:defRPr>
            </a:pPr>
            <a:r>
              <a:t>o también:   SEMANA 21 — AFRICA: 200KG PASTILLAS TH.  ASIA: 200KG PASTILLAS TH.  GOLFO: 60KG PASTILLAS GRANDES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" y="4892040"/>
            <a:ext cx="6858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</a:p>
          <a:p>
            <a:pPr>
              <a:spcAft>
                <a:spcPts val="100"/>
              </a:spcAft>
              <a:defRPr sz="650">
                <a:solidFill>
                  <a:srgbClr val="1B5E20"/>
                </a:solidFill>
                <a:latin typeface="Calibri"/>
              </a:defRPr>
            </a:pPr>
            <a:r>
              <a:t>Reglas simples para facturación:  1) Siempre “SECTOR: CANTIDAD UNIDAD PRODUCTO”  2) Separar sectores con “ | ” o “ . ”  3) No abreviar a “PASTIL” y usar mayúsculas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772400" y="4892040"/>
            <a:ext cx="384048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A5D6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909560" y="4937760"/>
            <a:ext cx="3566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50" b="0" i="1">
                <a:solidFill>
                  <a:srgbClr val="666666"/>
                </a:solidFill>
                <a:latin typeface="Calibri"/>
              </a:defRPr>
            </a:pPr>
            <a:r>
              <a:t>El sistema ya tolera variaciones (puntos, guiones, SECTOR, O/C),</a:t>
            </a:r>
            <a:br/>
            <a:r>
              <a:t>pero estandarizar reduce el riesgo del factor humano.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F4C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 i="0">
                <a:solidFill>
                  <a:srgbClr val="0F4C6A"/>
                </a:solidFill>
                <a:latin typeface="Calibri"/>
              </a:defRPr>
            </a:pPr>
            <a:r>
              <a:t>Todo esto ya está en producción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601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666666"/>
                </a:solidFill>
                <a:latin typeface="Calibri"/>
              </a:defRPr>
            </a:pPr>
            <a:r>
              <a:t>La demora fue para que no tengan que corregir comisiones después del pago. Cada caso de su carpeta ya pasa sin tocar código.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554480"/>
            <a:ext cx="5394960" cy="3291840"/>
          </a:xfrm>
          <a:prstGeom prst="rect">
            <a:avLst/>
          </a:prstGeom>
          <a:solidFill>
            <a:srgbClr val="F4F7F9"/>
          </a:solidFill>
          <a:ln w="6350">
            <a:solidFill>
              <a:srgbClr val="D0D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664208"/>
            <a:ext cx="4937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 i="0">
                <a:solidFill>
                  <a:srgbClr val="0F4C6A"/>
                </a:solidFill>
                <a:latin typeface="Calibri"/>
              </a:defRPr>
            </a:pPr>
            <a:r>
              <a:t>QUÉ CAMBIÓ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965960"/>
            <a:ext cx="493776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</a:p>
          <a:p>
            <a:pPr>
              <a:spcAft>
                <a:spcPts val="500"/>
              </a:spcAft>
              <a:defRPr sz="800">
                <a:solidFill>
                  <a:srgbClr val="1A1A1A"/>
                </a:solidFill>
                <a:latin typeface="Calibri"/>
              </a:defRPr>
            </a:pPr>
            <a:r>
              <a:t>• Sectores se buscan en el catálogo (cerrado) — un sector nuevo se da de alta, sin programar</a:t>
            </a:r>
          </a:p>
          <a:p>
            <a:pPr>
              <a:spcAft>
                <a:spcPts val="500"/>
              </a:spcAft>
              <a:defRPr sz="800">
                <a:solidFill>
                  <a:srgbClr val="1A1A1A"/>
                </a:solidFill>
                <a:latin typeface="Calibri"/>
              </a:defRPr>
            </a:pPr>
            <a:r>
              <a:t>• Números se convierten en Python, no en IA (22.500,00 ya no es 22,5)</a:t>
            </a:r>
          </a:p>
          <a:p>
            <a:pPr>
              <a:spcAft>
                <a:spcPts val="500"/>
              </a:spcAft>
              <a:defRPr sz="800">
                <a:solidFill>
                  <a:srgbClr val="1A1A1A"/>
                </a:solidFill>
                <a:latin typeface="Calibri"/>
              </a:defRPr>
            </a:pPr>
            <a:r>
              <a:t>• Preview avisa y bloquea facturas incompletas antes de guardar</a:t>
            </a:r>
          </a:p>
          <a:p>
            <a:pPr>
              <a:spcAft>
                <a:spcPts val="500"/>
              </a:spcAft>
              <a:defRPr sz="800">
                <a:solidFill>
                  <a:srgbClr val="1A1A1A"/>
                </a:solidFill>
                <a:latin typeface="Calibri"/>
              </a:defRPr>
            </a:pPr>
            <a:r>
              <a:t>• Excel con RESUMEN + hojas por grupo, como usan hoy (data real desde el minuto 1)</a:t>
            </a:r>
          </a:p>
        </p:txBody>
      </p:sp>
      <p:sp>
        <p:nvSpPr>
          <p:cNvPr id="8" name="Rectangle 7"/>
          <p:cNvSpPr/>
          <p:nvPr/>
        </p:nvSpPr>
        <p:spPr>
          <a:xfrm>
            <a:off x="6309360" y="1554480"/>
            <a:ext cx="5394960" cy="3291840"/>
          </a:xfrm>
          <a:prstGeom prst="rect">
            <a:avLst/>
          </a:prstGeom>
          <a:solidFill>
            <a:srgbClr val="F4F7F9"/>
          </a:solidFill>
          <a:ln w="6350">
            <a:solidFill>
              <a:srgbClr val="D0D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37960" y="1664208"/>
            <a:ext cx="4937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 i="0">
                <a:solidFill>
                  <a:srgbClr val="0F4C6A"/>
                </a:solidFill>
                <a:latin typeface="Calibri"/>
              </a:defRPr>
            </a:pPr>
            <a:r>
              <a:t>QUÉ YA NO PASA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37960" y="1965960"/>
            <a:ext cx="493776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</a:p>
          <a:p>
            <a:pPr>
              <a:spcAft>
                <a:spcPts val="500"/>
              </a:spcAft>
              <a:defRPr sz="800">
                <a:solidFill>
                  <a:srgbClr val="1A1A1A"/>
                </a:solidFill>
                <a:latin typeface="Calibri"/>
              </a:defRPr>
            </a:pPr>
            <a:r>
              <a:t>• 22.500 → 22,5  (comisión /1.000)</a:t>
            </a:r>
          </a:p>
          <a:p>
            <a:pPr>
              <a:spcAft>
                <a:spcPts val="500"/>
              </a:spcAft>
              <a:defRPr sz="800">
                <a:solidFill>
                  <a:srgbClr val="1A1A1A"/>
                </a:solidFill>
                <a:latin typeface="Calibri"/>
              </a:defRPr>
            </a:pPr>
            <a:r>
              <a:t>• O/C # como N° de factura (falso duplicado)</a:t>
            </a:r>
          </a:p>
          <a:p>
            <a:pPr>
              <a:spcAft>
                <a:spcPts val="500"/>
              </a:spcAft>
              <a:defRPr sz="800">
                <a:solidFill>
                  <a:srgbClr val="1A1A1A"/>
                </a:solidFill>
                <a:latin typeface="Calibri"/>
              </a:defRPr>
            </a:pPr>
            <a:r>
              <a:t>• “Luis Castro” como proveedor</a:t>
            </a:r>
          </a:p>
          <a:p>
            <a:pPr>
              <a:spcAft>
                <a:spcPts val="500"/>
              </a:spcAft>
              <a:defRPr sz="800">
                <a:solidFill>
                  <a:srgbClr val="1A1A1A"/>
                </a:solidFill>
                <a:latin typeface="Calibri"/>
              </a:defRPr>
            </a:pPr>
            <a:r>
              <a:t>• “C GOLFO” por falta de guión</a:t>
            </a:r>
          </a:p>
          <a:p>
            <a:pPr>
              <a:spcAft>
                <a:spcPts val="500"/>
              </a:spcAft>
              <a:defRPr sz="800">
                <a:solidFill>
                  <a:srgbClr val="1A1A1A"/>
                </a:solidFill>
                <a:latin typeface="Calibri"/>
              </a:defRPr>
            </a:pPr>
            <a:r>
              <a:t>• 25KG del envase tomado como pedido</a:t>
            </a:r>
          </a:p>
          <a:p>
            <a:pPr>
              <a:spcAft>
                <a:spcPts val="500"/>
              </a:spcAft>
              <a:defRPr sz="800">
                <a:solidFill>
                  <a:srgbClr val="1A1A1A"/>
                </a:solidFill>
                <a:latin typeface="Calibri"/>
              </a:defRPr>
            </a:pPr>
            <a:r>
              <a:t>• Producto sin alias quedaba en $0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5532120"/>
            <a:ext cx="11064240" cy="685800"/>
          </a:xfrm>
          <a:prstGeom prst="rect">
            <a:avLst/>
          </a:prstGeom>
          <a:solidFill>
            <a:srgbClr val="0F4C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5669280"/>
            <a:ext cx="10698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 i="1">
                <a:solidFill>
                  <a:srgbClr val="FFFFFF"/>
                </a:solidFill>
                <a:latin typeface="Calibri"/>
              </a:defRPr>
            </a:pPr>
            <a:r>
              <a:t>“Con estas 6 facturas que ustedes mismos reportaron ya no hay que adivinar. Si mañana cambia un formato o aparece un sector nuevo, lo damos de alta y sigue funcionando — sin volver a programar.”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